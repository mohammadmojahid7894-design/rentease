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6E5FA-A9FA-447A-8FC8-6B5EA3E72A26}" v="1" dt="2026-03-24T19:32:31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ojahid" userId="4c1afb2c5ebc34fe" providerId="LiveId" clId="{16CDDD25-34FF-4A34-888C-2A1A2DC70C03}"/>
    <pc:docChg chg="undo redo custSel modSld sldOrd">
      <pc:chgData name="mohammad mojahid" userId="4c1afb2c5ebc34fe" providerId="LiveId" clId="{16CDDD25-34FF-4A34-888C-2A1A2DC70C03}" dt="2026-03-26T13:40:27.257" v="230" actId="1076"/>
      <pc:docMkLst>
        <pc:docMk/>
      </pc:docMkLst>
      <pc:sldChg chg="modSp mod">
        <pc:chgData name="mohammad mojahid" userId="4c1afb2c5ebc34fe" providerId="LiveId" clId="{16CDDD25-34FF-4A34-888C-2A1A2DC70C03}" dt="2026-03-24T19:33:10.594" v="140" actId="20577"/>
        <pc:sldMkLst>
          <pc:docMk/>
          <pc:sldMk cId="0" sldId="256"/>
        </pc:sldMkLst>
        <pc:spChg chg="mod">
          <ac:chgData name="mohammad mojahid" userId="4c1afb2c5ebc34fe" providerId="LiveId" clId="{16CDDD25-34FF-4A34-888C-2A1A2DC70C03}" dt="2026-03-24T19:33:10.594" v="140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ohammad mojahid" userId="4c1afb2c5ebc34fe" providerId="LiveId" clId="{16CDDD25-34FF-4A34-888C-2A1A2DC70C03}" dt="2026-03-24T19:29:45.996" v="36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hammad mojahid" userId="4c1afb2c5ebc34fe" providerId="LiveId" clId="{16CDDD25-34FF-4A34-888C-2A1A2DC70C03}" dt="2026-03-24T19:29:59.393" v="58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mohammad mojahid" userId="4c1afb2c5ebc34fe" providerId="LiveId" clId="{16CDDD25-34FF-4A34-888C-2A1A2DC70C03}" dt="2026-03-24T19:33:48.689" v="169" actId="20577"/>
        <pc:sldMkLst>
          <pc:docMk/>
          <pc:sldMk cId="0" sldId="257"/>
        </pc:sldMkLst>
        <pc:spChg chg="mod">
          <ac:chgData name="mohammad mojahid" userId="4c1afb2c5ebc34fe" providerId="LiveId" clId="{16CDDD25-34FF-4A34-888C-2A1A2DC70C03}" dt="2026-03-24T19:33:48.689" v="169" actId="20577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mohammad mojahid" userId="4c1afb2c5ebc34fe" providerId="LiveId" clId="{16CDDD25-34FF-4A34-888C-2A1A2DC70C03}" dt="2026-03-26T13:38:09.163" v="222" actId="404"/>
        <pc:sldMkLst>
          <pc:docMk/>
          <pc:sldMk cId="0" sldId="261"/>
        </pc:sldMkLst>
        <pc:spChg chg="mod">
          <ac:chgData name="mohammad mojahid" userId="4c1afb2c5ebc34fe" providerId="LiveId" clId="{16CDDD25-34FF-4A34-888C-2A1A2DC70C03}" dt="2026-03-26T13:38:02.551" v="217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ohammad mojahid" userId="4c1afb2c5ebc34fe" providerId="LiveId" clId="{16CDDD25-34FF-4A34-888C-2A1A2DC70C03}" dt="2026-03-26T13:38:09.163" v="222" actId="404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mohammad mojahid" userId="4c1afb2c5ebc34fe" providerId="LiveId" clId="{16CDDD25-34FF-4A34-888C-2A1A2DC70C03}" dt="2026-03-24T19:28:21.070" v="26" actId="20577"/>
        <pc:sldMkLst>
          <pc:docMk/>
          <pc:sldMk cId="0" sldId="262"/>
        </pc:sldMkLst>
        <pc:spChg chg="mod">
          <ac:chgData name="mohammad mojahid" userId="4c1afb2c5ebc34fe" providerId="LiveId" clId="{16CDDD25-34FF-4A34-888C-2A1A2DC70C03}" dt="2026-03-24T19:28:21.070" v="26" actId="20577"/>
          <ac:spMkLst>
            <pc:docMk/>
            <pc:sldMk cId="0" sldId="262"/>
            <ac:spMk id="9" creationId="{00000000-0000-0000-0000-000000000000}"/>
          </ac:spMkLst>
        </pc:spChg>
      </pc:sldChg>
      <pc:sldChg chg="addSp delSp modSp mod">
        <pc:chgData name="mohammad mojahid" userId="4c1afb2c5ebc34fe" providerId="LiveId" clId="{16CDDD25-34FF-4A34-888C-2A1A2DC70C03}" dt="2026-03-26T13:40:27.257" v="230" actId="1076"/>
        <pc:sldMkLst>
          <pc:docMk/>
          <pc:sldMk cId="0" sldId="267"/>
        </pc:sldMkLst>
        <pc:spChg chg="mod">
          <ac:chgData name="mohammad mojahid" userId="4c1afb2c5ebc34fe" providerId="LiveId" clId="{16CDDD25-34FF-4A34-888C-2A1A2DC70C03}" dt="2026-03-26T13:39:35.871" v="223" actId="20577"/>
          <ac:spMkLst>
            <pc:docMk/>
            <pc:sldMk cId="0" sldId="267"/>
            <ac:spMk id="11" creationId="{00000000-0000-0000-0000-000000000000}"/>
          </ac:spMkLst>
        </pc:spChg>
        <pc:picChg chg="add mod">
          <ac:chgData name="mohammad mojahid" userId="4c1afb2c5ebc34fe" providerId="LiveId" clId="{16CDDD25-34FF-4A34-888C-2A1A2DC70C03}" dt="2026-03-26T13:40:27.257" v="230" actId="1076"/>
          <ac:picMkLst>
            <pc:docMk/>
            <pc:sldMk cId="0" sldId="267"/>
            <ac:picMk id="28" creationId="{362BE507-5261-3939-6A7A-767EB347840E}"/>
          </ac:picMkLst>
        </pc:picChg>
      </pc:sldChg>
      <pc:sldChg chg="addSp modSp mod ord">
        <pc:chgData name="mohammad mojahid" userId="4c1afb2c5ebc34fe" providerId="LiveId" clId="{16CDDD25-34FF-4A34-888C-2A1A2DC70C03}" dt="2026-03-24T19:38:50.168" v="193" actId="14100"/>
        <pc:sldMkLst>
          <pc:docMk/>
          <pc:sldMk cId="0" sldId="272"/>
        </pc:sldMkLst>
        <pc:spChg chg="mod">
          <ac:chgData name="mohammad mojahid" userId="4c1afb2c5ebc34fe" providerId="LiveId" clId="{16CDDD25-34FF-4A34-888C-2A1A2DC70C03}" dt="2026-03-24T19:38:05.099" v="182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mohammad mojahid" userId="4c1afb2c5ebc34fe" providerId="LiveId" clId="{16CDDD25-34FF-4A34-888C-2A1A2DC70C03}" dt="2026-03-24T19:38:34.412" v="190" actId="14100"/>
          <ac:spMkLst>
            <pc:docMk/>
            <pc:sldMk cId="0" sldId="272"/>
            <ac:spMk id="12" creationId="{00000000-0000-0000-0000-000000000000}"/>
          </ac:spMkLst>
        </pc:spChg>
        <pc:picChg chg="add mod">
          <ac:chgData name="mohammad mojahid" userId="4c1afb2c5ebc34fe" providerId="LiveId" clId="{16CDDD25-34FF-4A34-888C-2A1A2DC70C03}" dt="2026-03-24T19:38:50.168" v="193" actId="14100"/>
          <ac:picMkLst>
            <pc:docMk/>
            <pc:sldMk cId="0" sldId="272"/>
            <ac:picMk id="14" creationId="{A4BF76C0-5B6E-A22D-AEDC-DDA515573A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6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280160"/>
            <a:ext cx="54864" cy="3657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0972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</a:t>
            </a:r>
            <a:endParaRPr lang="en-US" sz="500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00D4FF"/>
                </a:solidFill>
                <a:effectLst>
                  <a:glow rad="101600">
                    <a:srgbClr val="00D4FF">
                      <a:alpha val="4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</a:t>
            </a:r>
            <a:endParaRPr lang="en-US" sz="500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Web-Based Rental Management Platform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1188720" y="3337560"/>
            <a:ext cx="457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 </a:t>
            </a:r>
            <a:r>
              <a:rPr lang="en-US" sz="1400" b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Satya </a:t>
            </a:r>
            <a:r>
              <a:rPr lang="en-US" sz="1400" b="1" err="1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Swadhhaya</a:t>
            </a: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Rahul Mishra, Md Mojahid , Tauhid Ahmed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1188720" y="3904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 </a:t>
            </a:r>
            <a:r>
              <a:rPr lang="en-US" sz="1400" b="1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B.Sc</a:t>
            </a: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6th Semester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188720" y="4288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College:  </a:t>
            </a: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Dharanidhar University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188720" y="4672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Year:  </a:t>
            </a: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1118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6th Semester Project Presentation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Roadmap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1078992" y="1371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860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078992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3756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375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1078992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8912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3891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1078992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1500"/>
          </a:p>
        </p:txBody>
      </p:sp>
      <p:sp>
        <p:nvSpPr>
          <p:cNvPr id="25" name="Shape 23"/>
          <p:cNvSpPr/>
          <p:nvPr/>
        </p:nvSpPr>
        <p:spPr>
          <a:xfrm>
            <a:off x="274320" y="544068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544068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54406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1078992" y="5577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500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123444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2344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7068312" y="1371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Owner Panel</a:t>
            </a:r>
            <a:endParaRPr lang="en-US" sz="1500"/>
          </a:p>
        </p:txBody>
      </p:sp>
      <p:sp>
        <p:nvSpPr>
          <p:cNvPr id="33" name="Shape 31"/>
          <p:cNvSpPr/>
          <p:nvPr/>
        </p:nvSpPr>
        <p:spPr>
          <a:xfrm>
            <a:off x="6263640" y="228600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228600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22860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7068312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Tenant &amp; Payments</a:t>
            </a:r>
            <a:endParaRPr lang="en-US" sz="1500"/>
          </a:p>
        </p:txBody>
      </p:sp>
      <p:sp>
        <p:nvSpPr>
          <p:cNvPr id="37" name="Shape 35"/>
          <p:cNvSpPr/>
          <p:nvPr/>
        </p:nvSpPr>
        <p:spPr>
          <a:xfrm>
            <a:off x="6263640" y="333756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33756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3375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7068312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Search &amp; Notifications</a:t>
            </a:r>
            <a:endParaRPr lang="en-US" sz="1500"/>
          </a:p>
        </p:txBody>
      </p:sp>
      <p:sp>
        <p:nvSpPr>
          <p:cNvPr id="41" name="Shape 39"/>
          <p:cNvSpPr/>
          <p:nvPr/>
        </p:nvSpPr>
        <p:spPr>
          <a:xfrm>
            <a:off x="6263640" y="438912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438912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3891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800"/>
          </a:p>
        </p:txBody>
      </p:sp>
      <p:sp>
        <p:nvSpPr>
          <p:cNvPr id="44" name="Text 42"/>
          <p:cNvSpPr/>
          <p:nvPr/>
        </p:nvSpPr>
        <p:spPr>
          <a:xfrm>
            <a:off x="7068312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500"/>
          </a:p>
        </p:txBody>
      </p:sp>
      <p:sp>
        <p:nvSpPr>
          <p:cNvPr id="45" name="Shape 43"/>
          <p:cNvSpPr/>
          <p:nvPr/>
        </p:nvSpPr>
        <p:spPr>
          <a:xfrm>
            <a:off x="6263640" y="5440680"/>
            <a:ext cx="5669280" cy="8412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5440680"/>
            <a:ext cx="685800" cy="84124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54406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7068312" y="5577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Bibliography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problem &amp; solution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88720"/>
            <a:ext cx="563270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Smart Rental Management?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platform for property owners to manage tenants &amp; payments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manual records with automated processes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1234440" y="38862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tracking of dues, complaints &amp; notices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123444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communication between landlords &amp; tenants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1188720"/>
            <a:ext cx="5632704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Without Digital Systems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7178040" y="1965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Paper-based records — error-prone &amp; slow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6400800" y="29260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7178040" y="2926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disputes &amp; tracking failures</a:t>
            </a: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</a:t>
            </a:r>
            <a:endParaRPr lang="en-US" sz="1800"/>
          </a:p>
        </p:txBody>
      </p:sp>
      <p:sp>
        <p:nvSpPr>
          <p:cNvPr id="35" name="Text 33"/>
          <p:cNvSpPr/>
          <p:nvPr/>
        </p:nvSpPr>
        <p:spPr>
          <a:xfrm>
            <a:off x="7178040" y="38862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complaint system</a:t>
            </a:r>
            <a:endParaRPr lang="en-US" sz="1250"/>
          </a:p>
        </p:txBody>
      </p:sp>
      <p:sp>
        <p:nvSpPr>
          <p:cNvPr id="36" name="Shape 34"/>
          <p:cNvSpPr/>
          <p:nvPr/>
        </p:nvSpPr>
        <p:spPr>
          <a:xfrm>
            <a:off x="6400800" y="48463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50800" dir="16200000" algn="bl" rotWithShape="0">
              <a:srgbClr val="EF4444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1800"/>
          </a:p>
        </p:txBody>
      </p:sp>
      <p:sp>
        <p:nvSpPr>
          <p:cNvPr id="38" name="Text 36"/>
          <p:cNvSpPr/>
          <p:nvPr/>
        </p:nvSpPr>
        <p:spPr>
          <a:xfrm>
            <a:off x="717804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transparency for tenants on dues &amp; rules</a:t>
            </a:r>
            <a:endParaRPr lang="en-US"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our system aims to achieve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" y="1234440"/>
            <a:ext cx="371246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4630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872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Property Browsing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city, GPS location, price range filters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206240" y="123444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234440"/>
            <a:ext cx="371246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4630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Owner-Tenant Management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434340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Multi-property, unit management, tenant tracking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8183880" y="123444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02168" y="1234440"/>
            <a:ext cx="371246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14630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16200000" algn="bl" rotWithShape="0">
              <a:srgbClr val="10B98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 Flow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832104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upload, owner review, one-click approval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228600" y="379476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" y="3794760"/>
            <a:ext cx="371246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0233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16200000" algn="bl" rotWithShape="0">
              <a:srgbClr val="F59E0B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118872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Simulation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 with QR code &amp; transaction IDs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4528" y="3794760"/>
            <a:ext cx="3712464" cy="45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9" name="Shape 37"/>
          <p:cNvSpPr/>
          <p:nvPr/>
        </p:nvSpPr>
        <p:spPr>
          <a:xfrm>
            <a:off x="4389120" y="402336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blurRad="101600" dist="50800" dir="16200000" algn="bl" rotWithShape="0">
              <a:srgbClr val="FF006E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891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800"/>
          </a:p>
        </p:txBody>
      </p:sp>
      <p:sp>
        <p:nvSpPr>
          <p:cNvPr id="41" name="Text 39"/>
          <p:cNvSpPr/>
          <p:nvPr/>
        </p:nvSpPr>
        <p:spPr>
          <a:xfrm>
            <a:off x="516636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Notifications</a:t>
            </a:r>
            <a:endParaRPr lang="en-US" sz="1400"/>
          </a:p>
        </p:txBody>
      </p:sp>
      <p:sp>
        <p:nvSpPr>
          <p:cNvPr id="42" name="Shape 40"/>
          <p:cNvSpPr/>
          <p:nvPr/>
        </p:nvSpPr>
        <p:spPr>
          <a:xfrm>
            <a:off x="434340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reminders: 5-day, 2-day, due-date, overdue alerts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8183880" y="3794760"/>
            <a:ext cx="3749040" cy="22860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02168" y="3794760"/>
            <a:ext cx="3712464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366760" y="402336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667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914400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System</a:t>
            </a:r>
            <a:endParaRPr lang="en-US" sz="1400"/>
          </a:p>
        </p:txBody>
      </p:sp>
      <p:sp>
        <p:nvSpPr>
          <p:cNvPr id="49" name="Shape 47"/>
          <p:cNvSpPr/>
          <p:nvPr/>
        </p:nvSpPr>
        <p:spPr>
          <a:xfrm>
            <a:off x="832104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Cloudinary-based ID proof upload with validation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powering the system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88720"/>
            <a:ext cx="563270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23444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83464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Laptop/PC, 4GB+ RAM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23444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283464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i3 / Ryzen 3+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123444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28346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256GB SSD/HDD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28346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Broadband/WiFi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457200" y="498348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/>
          </a:p>
        </p:txBody>
      </p:sp>
      <p:sp>
        <p:nvSpPr>
          <p:cNvPr id="30" name="Text 28"/>
          <p:cNvSpPr/>
          <p:nvPr/>
        </p:nvSpPr>
        <p:spPr>
          <a:xfrm>
            <a:off x="123444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283464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1280×720+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6217920" y="1188720"/>
            <a:ext cx="5669280" cy="502920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1188720"/>
            <a:ext cx="563270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Stack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717804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 + TypeScript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717804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6400800" y="2587752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2587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/>
          </a:p>
        </p:txBody>
      </p:sp>
      <p:sp>
        <p:nvSpPr>
          <p:cNvPr id="41" name="Text 39"/>
          <p:cNvSpPr/>
          <p:nvPr/>
        </p:nvSpPr>
        <p:spPr>
          <a:xfrm>
            <a:off x="7178040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717804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Firestore DB</a:t>
            </a:r>
            <a:endParaRPr lang="en-US" sz="1100"/>
          </a:p>
        </p:txBody>
      </p:sp>
      <p:sp>
        <p:nvSpPr>
          <p:cNvPr id="43" name="Shape 41"/>
          <p:cNvSpPr/>
          <p:nvPr/>
        </p:nvSpPr>
        <p:spPr>
          <a:xfrm>
            <a:off x="6400800" y="3300984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0" y="33009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</a:t>
            </a:r>
            <a:endParaRPr lang="en-US" sz="1800"/>
          </a:p>
        </p:txBody>
      </p:sp>
      <p:sp>
        <p:nvSpPr>
          <p:cNvPr id="45" name="Text 43"/>
          <p:cNvSpPr/>
          <p:nvPr/>
        </p:nvSpPr>
        <p:spPr>
          <a:xfrm>
            <a:off x="7178040" y="3300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</a:t>
            </a:r>
            <a:endParaRPr lang="en-US" sz="1300"/>
          </a:p>
        </p:txBody>
      </p:sp>
      <p:sp>
        <p:nvSpPr>
          <p:cNvPr id="46" name="Text 44"/>
          <p:cNvSpPr/>
          <p:nvPr/>
        </p:nvSpPr>
        <p:spPr>
          <a:xfrm>
            <a:off x="7178040" y="3621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Image/Doc uploads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6400800" y="4014216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0" y="40142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/>
          </a:p>
        </p:txBody>
      </p:sp>
      <p:sp>
        <p:nvSpPr>
          <p:cNvPr id="49" name="Text 47"/>
          <p:cNvSpPr/>
          <p:nvPr/>
        </p:nvSpPr>
        <p:spPr>
          <a:xfrm>
            <a:off x="7178040" y="4014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300"/>
          </a:p>
        </p:txBody>
      </p:sp>
      <p:sp>
        <p:nvSpPr>
          <p:cNvPr id="50" name="Text 48"/>
          <p:cNvSpPr/>
          <p:nvPr/>
        </p:nvSpPr>
        <p:spPr>
          <a:xfrm>
            <a:off x="7178040" y="4334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6400800" y="472744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0" y="4727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</a:t>
            </a:r>
            <a:endParaRPr lang="en-US" sz="1800"/>
          </a:p>
        </p:txBody>
      </p:sp>
      <p:sp>
        <p:nvSpPr>
          <p:cNvPr id="53" name="Text 51"/>
          <p:cNvSpPr/>
          <p:nvPr/>
        </p:nvSpPr>
        <p:spPr>
          <a:xfrm>
            <a:off x="7178040" y="4727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00"/>
          </a:p>
        </p:txBody>
      </p:sp>
      <p:sp>
        <p:nvSpPr>
          <p:cNvPr id="54" name="Text 52"/>
          <p:cNvSpPr/>
          <p:nvPr/>
        </p:nvSpPr>
        <p:spPr>
          <a:xfrm>
            <a:off x="7178040" y="5047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100"/>
          </a:p>
        </p:txBody>
      </p:sp>
      <p:sp>
        <p:nvSpPr>
          <p:cNvPr id="55" name="Shape 53"/>
          <p:cNvSpPr/>
          <p:nvPr/>
        </p:nvSpPr>
        <p:spPr>
          <a:xfrm>
            <a:off x="6400800" y="5440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0080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💙</a:t>
            </a:r>
            <a:endParaRPr lang="en-US" sz="1800"/>
          </a:p>
        </p:txBody>
      </p:sp>
      <p:sp>
        <p:nvSpPr>
          <p:cNvPr id="57" name="Text 55"/>
          <p:cNvSpPr/>
          <p:nvPr/>
        </p:nvSpPr>
        <p:spPr>
          <a:xfrm>
            <a:off x="7178040" y="5440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300"/>
          </a:p>
        </p:txBody>
      </p:sp>
      <p:sp>
        <p:nvSpPr>
          <p:cNvPr id="58" name="Text 56"/>
          <p:cNvSpPr/>
          <p:nvPr/>
        </p:nvSpPr>
        <p:spPr>
          <a:xfrm>
            <a:off x="7178040" y="5760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600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this system powerful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188720"/>
            <a:ext cx="275234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13716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Listing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properties with images, units, pricing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3182112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88720"/>
            <a:ext cx="275234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33672" y="137160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3367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Filter</a:t>
            </a:r>
            <a:endParaRPr lang="en-US" sz="1350"/>
          </a:p>
        </p:txBody>
      </p:sp>
      <p:sp>
        <p:nvSpPr>
          <p:cNvPr id="21" name="Shape 19"/>
          <p:cNvSpPr/>
          <p:nvPr/>
        </p:nvSpPr>
        <p:spPr>
          <a:xfrm>
            <a:off x="3456432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City, GPS, price range, popular cities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6181344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9632" y="1188720"/>
            <a:ext cx="275234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7232904" y="13716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16200000" algn="bl" rotWithShape="0">
              <a:srgbClr val="10B98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32904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6272784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</a:t>
            </a:r>
            <a:endParaRPr lang="en-US" sz="1350"/>
          </a:p>
        </p:txBody>
      </p:sp>
      <p:sp>
        <p:nvSpPr>
          <p:cNvPr id="28" name="Shape 26"/>
          <p:cNvSpPr/>
          <p:nvPr/>
        </p:nvSpPr>
        <p:spPr>
          <a:xfrm>
            <a:off x="6455664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with docs, owner reviews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9180576" y="118872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98864" y="1188720"/>
            <a:ext cx="275234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32136" y="13716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16200000" algn="bl" rotWithShape="0">
              <a:srgbClr val="F59E0B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232136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272016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</a:t>
            </a:r>
            <a:endParaRPr lang="en-US" sz="1350"/>
          </a:p>
        </p:txBody>
      </p:sp>
      <p:sp>
        <p:nvSpPr>
          <p:cNvPr id="35" name="Shape 33"/>
          <p:cNvSpPr/>
          <p:nvPr/>
        </p:nvSpPr>
        <p:spPr>
          <a:xfrm>
            <a:off x="9454896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6" name="Text 34"/>
          <p:cNvSpPr/>
          <p:nvPr/>
        </p:nvSpPr>
        <p:spPr>
          <a:xfrm>
            <a:off x="9272016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Banking, QR code</a:t>
            </a:r>
            <a:endParaRPr lang="en-US" sz="1150"/>
          </a:p>
        </p:txBody>
      </p:sp>
      <p:sp>
        <p:nvSpPr>
          <p:cNvPr id="37" name="Shape 35"/>
          <p:cNvSpPr/>
          <p:nvPr/>
        </p:nvSpPr>
        <p:spPr>
          <a:xfrm>
            <a:off x="182880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3794760"/>
            <a:ext cx="2752344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4440" y="397764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2344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/>
          </a:p>
        </p:txBody>
      </p:sp>
      <p:sp>
        <p:nvSpPr>
          <p:cNvPr id="41" name="Text 39"/>
          <p:cNvSpPr/>
          <p:nvPr/>
        </p:nvSpPr>
        <p:spPr>
          <a:xfrm>
            <a:off x="274320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Tracking</a:t>
            </a:r>
            <a:endParaRPr lang="en-US" sz="1350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Pending/Paid/Overdue + late fees</a:t>
            </a:r>
            <a:endParaRPr lang="en-US" sz="1150"/>
          </a:p>
        </p:txBody>
      </p:sp>
      <p:sp>
        <p:nvSpPr>
          <p:cNvPr id="44" name="Shape 42"/>
          <p:cNvSpPr/>
          <p:nvPr/>
        </p:nvSpPr>
        <p:spPr>
          <a:xfrm>
            <a:off x="3182112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0" y="3794760"/>
            <a:ext cx="2752344" cy="45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46" name="Shape 44"/>
          <p:cNvSpPr/>
          <p:nvPr/>
        </p:nvSpPr>
        <p:spPr>
          <a:xfrm>
            <a:off x="4233672" y="397764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blurRad="101600" dist="50800" dir="16200000" algn="bl" rotWithShape="0">
              <a:srgbClr val="FF006E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33672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</a:t>
            </a:r>
            <a:endParaRPr lang="en-US" sz="1800"/>
          </a:p>
        </p:txBody>
      </p:sp>
      <p:sp>
        <p:nvSpPr>
          <p:cNvPr id="48" name="Text 46"/>
          <p:cNvSpPr/>
          <p:nvPr/>
        </p:nvSpPr>
        <p:spPr>
          <a:xfrm>
            <a:off x="3273552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</a:t>
            </a:r>
            <a:endParaRPr lang="en-US" sz="1350"/>
          </a:p>
        </p:txBody>
      </p:sp>
      <p:sp>
        <p:nvSpPr>
          <p:cNvPr id="49" name="Shape 47"/>
          <p:cNvSpPr/>
          <p:nvPr/>
        </p:nvSpPr>
        <p:spPr>
          <a:xfrm>
            <a:off x="3456432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5-day, 2-day, due-date alerts</a:t>
            </a:r>
            <a:endParaRPr lang="en-US" sz="1150"/>
          </a:p>
        </p:txBody>
      </p:sp>
      <p:sp>
        <p:nvSpPr>
          <p:cNvPr id="51" name="Shape 49"/>
          <p:cNvSpPr/>
          <p:nvPr/>
        </p:nvSpPr>
        <p:spPr>
          <a:xfrm>
            <a:off x="6181344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99632" y="3794760"/>
            <a:ext cx="275234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32904" y="39776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232904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1800"/>
          </a:p>
        </p:txBody>
      </p:sp>
      <p:sp>
        <p:nvSpPr>
          <p:cNvPr id="55" name="Text 53"/>
          <p:cNvSpPr/>
          <p:nvPr/>
        </p:nvSpPr>
        <p:spPr>
          <a:xfrm>
            <a:off x="6272784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</a:t>
            </a:r>
            <a:endParaRPr lang="en-US" sz="1350"/>
          </a:p>
        </p:txBody>
      </p:sp>
      <p:sp>
        <p:nvSpPr>
          <p:cNvPr id="56" name="Shape 54"/>
          <p:cNvSpPr/>
          <p:nvPr/>
        </p:nvSpPr>
        <p:spPr>
          <a:xfrm>
            <a:off x="6455664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7" name="Text 55"/>
          <p:cNvSpPr/>
          <p:nvPr/>
        </p:nvSpPr>
        <p:spPr>
          <a:xfrm>
            <a:off x="6272784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proof via Cloudinary</a:t>
            </a:r>
            <a:endParaRPr lang="en-US" sz="1150"/>
          </a:p>
        </p:txBody>
      </p:sp>
      <p:sp>
        <p:nvSpPr>
          <p:cNvPr id="58" name="Shape 56"/>
          <p:cNvSpPr/>
          <p:nvPr/>
        </p:nvSpPr>
        <p:spPr>
          <a:xfrm>
            <a:off x="9180576" y="3794760"/>
            <a:ext cx="2788920" cy="233172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98864" y="3794760"/>
            <a:ext cx="2752344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32136" y="3977640"/>
            <a:ext cx="640080" cy="6400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blurRad="101600" dist="50800" dir="16200000" algn="bl" rotWithShape="0">
              <a:srgbClr val="FFB80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23213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1800"/>
          </a:p>
        </p:txBody>
      </p:sp>
      <p:sp>
        <p:nvSpPr>
          <p:cNvPr id="62" name="Text 60"/>
          <p:cNvSpPr/>
          <p:nvPr/>
        </p:nvSpPr>
        <p:spPr>
          <a:xfrm>
            <a:off x="9272016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Panel</a:t>
            </a:r>
            <a:endParaRPr lang="en-US" sz="1350"/>
          </a:p>
        </p:txBody>
      </p:sp>
      <p:sp>
        <p:nvSpPr>
          <p:cNvPr id="63" name="Shape 61"/>
          <p:cNvSpPr/>
          <p:nvPr/>
        </p:nvSpPr>
        <p:spPr>
          <a:xfrm>
            <a:off x="9454896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64" name="Text 62"/>
          <p:cNvSpPr/>
          <p:nvPr/>
        </p:nvSpPr>
        <p:spPr>
          <a:xfrm>
            <a:off x="9272016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approval, user mgmt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600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Screenshots</a:t>
            </a:r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Preview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User-friendly homepage with property browsing and filters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097280" y="1325880"/>
            <a:ext cx="9994392" cy="4754880"/>
          </a:xfrm>
          <a:prstGeom prst="rect">
            <a:avLst/>
          </a:prstGeom>
          <a:solidFill>
            <a:srgbClr val="6C63FF"/>
          </a:solidFill>
          <a:ln/>
          <a:effectLst>
            <a:outerShdw blurRad="254000" dist="50800" dir="16200000" algn="bl" rotWithShape="0">
              <a:srgbClr val="6C63F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371600"/>
            <a:ext cx="9902952" cy="4663440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60320"/>
            <a:ext cx="9902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Landing Page Screenshot ]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143000" y="5486400"/>
            <a:ext cx="9902952" cy="414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modern homepage • Property browsing • Role-based login</a:t>
            </a:r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BF76C0-5B6E-A22D-AEDC-DDA51557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735" y="1460979"/>
            <a:ext cx="9692250" cy="3998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Panel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management, tenant overview, financial reports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Panel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Records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Notices</a:t>
            </a:r>
            <a:endParaRPr lang="en-US" sz="10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2BE507-5261-3939-6A7A-767EB3478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565" y="1701571"/>
            <a:ext cx="9284677" cy="37189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properties, apply with documents, track rent status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Status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System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 with QR code and transaction tracking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System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Pay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Banking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ID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Reminders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rent reminders, overdue alerts, type-based badges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Reminders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5-Day Alert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2-Day Alert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Today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Read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Search &amp; Filters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search, GPS location, price range, popular cities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/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blurRad="190500" dist="63500" dir="16200000" algn="bl" rotWithShape="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Search &amp; Filters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Search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Detect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Range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Popular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Tags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600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320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system is heading next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234440"/>
            <a:ext cx="563270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50800" dir="16200000" algn="bl" rotWithShape="0">
              <a:srgbClr val="10B981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1234440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/ Stripe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234440" y="1828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rent collection with receipts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234440"/>
            <a:ext cx="563270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50800" dir="16200000" algn="bl" rotWithShape="0">
              <a:srgbClr val="8B5CF6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7223760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Recommendations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7223760" y="1828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property suggestions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926080"/>
            <a:ext cx="563270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101600" dist="50800" dir="16200000" algn="bl" rotWithShape="0">
              <a:srgbClr val="00D4FF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1234440" y="3108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Chat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234440" y="35204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owner-tenant messaging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263640" y="292608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2926080"/>
            <a:ext cx="5632704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32461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50800" dir="16200000" algn="bl" rotWithShape="0">
              <a:srgbClr val="6C63FF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7223760" y="3108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</a:t>
            </a:r>
            <a:endParaRPr lang="en-US" sz="1500"/>
          </a:p>
        </p:txBody>
      </p:sp>
      <p:sp>
        <p:nvSpPr>
          <p:cNvPr id="32" name="Text 30"/>
          <p:cNvSpPr/>
          <p:nvPr/>
        </p:nvSpPr>
        <p:spPr>
          <a:xfrm>
            <a:off x="7223760" y="35204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for iOS &amp; Android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92608" y="4617720"/>
            <a:ext cx="563270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50800" dir="16200000" algn="bl" rotWithShape="0">
              <a:srgbClr val="F59E0B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1234440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500"/>
          </a:p>
        </p:txBody>
      </p:sp>
      <p:sp>
        <p:nvSpPr>
          <p:cNvPr id="38" name="Text 36"/>
          <p:cNvSpPr/>
          <p:nvPr/>
        </p:nvSpPr>
        <p:spPr>
          <a:xfrm>
            <a:off x="1234440" y="5212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trends, occupancy forecasting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6263640" y="4617720"/>
            <a:ext cx="5669280" cy="146304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1928" y="4617720"/>
            <a:ext cx="5632704" cy="4572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46520" y="493776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blurRad="101600" dist="50800" dir="16200000" algn="bl" rotWithShape="0">
              <a:srgbClr val="FF006E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1800"/>
          </a:p>
        </p:txBody>
      </p:sp>
      <p:sp>
        <p:nvSpPr>
          <p:cNvPr id="43" name="Text 41"/>
          <p:cNvSpPr/>
          <p:nvPr/>
        </p:nvSpPr>
        <p:spPr>
          <a:xfrm>
            <a:off x="7223760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SMS/Email Automation</a:t>
            </a:r>
            <a:endParaRPr lang="en-US" sz="1500"/>
          </a:p>
        </p:txBody>
      </p:sp>
      <p:sp>
        <p:nvSpPr>
          <p:cNvPr id="44" name="Text 42"/>
          <p:cNvSpPr/>
          <p:nvPr/>
        </p:nvSpPr>
        <p:spPr>
          <a:xfrm>
            <a:off x="7223760" y="5212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scheduled reminders</a:t>
            </a:r>
            <a:endParaRPr lang="en-US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1188720"/>
            <a:ext cx="2743200" cy="2743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3716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5200"/>
          </a:p>
        </p:txBody>
      </p:sp>
      <p:sp>
        <p:nvSpPr>
          <p:cNvPr id="9" name="Shape 7"/>
          <p:cNvSpPr/>
          <p:nvPr/>
        </p:nvSpPr>
        <p:spPr>
          <a:xfrm>
            <a:off x="274320" y="32004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00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2344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2344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Simplifies the entire rental lifecycle — listing to payment.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488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paperwork with automated rent cycles &amp; late fees.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transparency through real-time notifications.</a:t>
            </a:r>
            <a:endParaRPr lang="en-US" sz="135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architecture — ready for real payment gateways.</a:t>
            </a:r>
            <a:endParaRPr lang="en-US" sz="135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tech stack ensures reliability &amp; security.</a:t>
            </a:r>
            <a:endParaRPr lang="en-US" sz="13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Bibliography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&amp; References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1005840" y="13075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Docs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firebase.google.com/docs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47672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005840" y="2020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Documentation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029200" y="202082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react.dev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274320" y="2660904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60904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660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1005840" y="27340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 Docs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029200" y="273405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cloudinary.com/documentation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274320" y="3374136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74136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3741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100584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Handbook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029200" y="344728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typescriptlang.org/docs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274320" y="4087368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87368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10058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Documentation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029200" y="4160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vitejs.dev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800600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1005840" y="4873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Docs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5029200" y="48737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vercel.com/docs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274320" y="5513832"/>
            <a:ext cx="11612880" cy="594360"/>
          </a:xfrm>
          <a:prstGeom prst="rect">
            <a:avLst/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5513832"/>
            <a:ext cx="594360" cy="5943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5513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1005840" y="5586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5029200" y="55869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stackoverflow.com</a:t>
            </a:r>
            <a:endParaRPr lang="en-US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371600"/>
            <a:ext cx="1219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>
                <a:solidFill>
                  <a:srgbClr val="FFFFFF"/>
                </a:solidFill>
                <a:effectLst>
                  <a:glow rad="127000">
                    <a:srgbClr val="6C63FF">
                      <a:alpha val="4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80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 Management System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3474720" y="3794760"/>
            <a:ext cx="5239512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0233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are Welcome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Mohammad Mojahid  |  B.Tech CSE — 6th Semester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809</Words>
  <Application>Microsoft Office PowerPoint</Application>
  <PresentationFormat>Widescreen</PresentationFormat>
  <Paragraphs>275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mojahid</cp:lastModifiedBy>
  <cp:revision>1</cp:revision>
  <dcterms:created xsi:type="dcterms:W3CDTF">2026-03-24T19:25:43Z</dcterms:created>
  <dcterms:modified xsi:type="dcterms:W3CDTF">2026-03-26T13:40:29Z</dcterms:modified>
</cp:coreProperties>
</file>