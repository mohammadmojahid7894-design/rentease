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457200"/>
            <a:ext cx="4572000" cy="4572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280160"/>
            <a:ext cx="54864" cy="3657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0972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D4FF"/>
                </a:solidFill>
                <a:effectLst>
                  <a:glow rad="101600">
                    <a:srgbClr val="00D4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1887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Smart Web-Based Rental Management Platform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457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Mohammad Mojahid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B.Tech CSE — 6th Semester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288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College Name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672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 – 2026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111832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4465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6th Semester Project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Roadmap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33756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899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Requirements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438912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38912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899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544068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899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123444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23444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68312" y="1371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Owner Panel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63640" y="228600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228600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28600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68312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Tenant &amp; Payments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263640" y="333756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333756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3375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68312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— Search &amp; Notifications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263640" y="438912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438912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438912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068312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63640" y="5440680"/>
            <a:ext cx="5669280" cy="841248"/>
          </a:xfrm>
          <a:prstGeom prst="rect">
            <a:avLst>
              <a:gd name="adj" fmla="val 16304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5440680"/>
            <a:ext cx="685800" cy="841248"/>
          </a:xfrm>
          <a:prstGeom prst="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544068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068312" y="5577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Bibliography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problem &amp; solution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>
              <a:gd name="adj" fmla="val 272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Smart Rental Management?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platform for property owners to manage tenants &amp; payments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manual records with automated processes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tracking of dues, complaints &amp; notices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communication between landlords &amp; tenants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5669280" cy="5029200"/>
          </a:xfrm>
          <a:prstGeom prst="rect">
            <a:avLst>
              <a:gd name="adj" fmla="val 272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1188720"/>
            <a:ext cx="5632704" cy="45720"/>
          </a:xfrm>
          <a:prstGeom prst="rect">
            <a:avLst>
              <a:gd name="adj" fmla="val 40000"/>
            </a:avLst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Without Digital Systems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196596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78040" y="19659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Paper-based records — error-prone &amp; slow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0" y="29260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2926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disputes &amp; tracking failures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38862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centralized complaint system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0" y="48463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50800" dir="16200000">
              <a:srgbClr val="EF4444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78040" y="48463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transparency for tenants on dues &amp; rules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our system aims to achieve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" y="1234440"/>
            <a:ext cx="371246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4630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Property Browsing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city, GPS location, price range filters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23444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1234440"/>
            <a:ext cx="371246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389120" y="146304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891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6636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Owner-Tenant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Multi-property, unit management, tenant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123444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02168" y="1234440"/>
            <a:ext cx="3712464" cy="457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146304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1463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 Flow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21040" y="201168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148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upload, owner review, one-click approval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79476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" y="3794760"/>
            <a:ext cx="371246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40233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50800" dir="1620000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Simulation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&amp; transaction IDs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379476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4528" y="3794760"/>
            <a:ext cx="3712464" cy="45720"/>
          </a:xfrm>
          <a:prstGeom prst="rect">
            <a:avLst>
              <a:gd name="adj" fmla="val 40000"/>
            </a:avLst>
          </a:prstGeom>
          <a:solidFill>
            <a:srgbClr val="FF006E"/>
          </a:solidFill>
          <a:ln/>
        </p:spPr>
      </p:sp>
      <p:sp>
        <p:nvSpPr>
          <p:cNvPr id="39" name="Shape 37"/>
          <p:cNvSpPr/>
          <p:nvPr/>
        </p:nvSpPr>
        <p:spPr>
          <a:xfrm>
            <a:off x="4389120" y="40233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sx="100000" sy="100000" kx="0" ky="0" algn="bl" rotWithShape="0" blurRad="101600" dist="50800" dir="16200000">
              <a:srgbClr val="FF006E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16636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Notifications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34340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434340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reminders: 5-day, 2-day, due-date, overdue alerts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83880" y="3794760"/>
            <a:ext cx="3749040" cy="2286000"/>
          </a:xfrm>
          <a:prstGeom prst="rect">
            <a:avLst>
              <a:gd name="adj" fmla="val 60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202168" y="3794760"/>
            <a:ext cx="3712464" cy="45720"/>
          </a:xfrm>
          <a:prstGeom prst="rect">
            <a:avLst>
              <a:gd name="adj" fmla="val 40000"/>
            </a:avLst>
          </a:prstGeom>
          <a:solidFill>
            <a:srgbClr val="6C63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366760" y="402336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3667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144000" y="4023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System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321040" y="4572000"/>
            <a:ext cx="347472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8321040" y="47091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Cloudinary-based ID proof upload with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 &amp; Requirements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 powering the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669280" cy="5029200"/>
          </a:xfrm>
          <a:prstGeom prst="rect">
            <a:avLst>
              <a:gd name="adj" fmla="val 272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88720"/>
            <a:ext cx="563270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Laptop/PC, 4GB+ RAM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i3 / Ryzen 3+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29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429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256GB SSD/HDD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344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Broadband/WiFi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98348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1280×720+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1188720"/>
            <a:ext cx="5669280" cy="5029200"/>
          </a:xfrm>
          <a:prstGeom prst="rect">
            <a:avLst>
              <a:gd name="adj" fmla="val 272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1188720"/>
            <a:ext cx="563270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32588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Stack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78040" y="1874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React.js + TypeScript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78040" y="2194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2587752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2587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78040" y="2587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78040" y="2907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Firestore DB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300984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0" y="33009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178040" y="3300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78040" y="3621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Image/Doc uploads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0" y="4014216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0" y="40142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178040" y="40142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178040" y="4334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472744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00800" y="4727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8040" y="47274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178040" y="5047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400800" y="54406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0" y="5440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💙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178040" y="5440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178040" y="5760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 Overview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this system powerful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188720"/>
            <a:ext cx="275234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1234440" y="13716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Listing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properties with images, units, pricing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82112" y="118872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188720"/>
            <a:ext cx="275234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233672" y="137160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33672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456432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City, GPS, price range, popular cities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1344" y="118872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9632" y="1188720"/>
            <a:ext cx="2752344" cy="457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2904" y="13716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32904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72784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&amp; Approval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55664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with docs, owner reviews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180576" y="118872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98864" y="1188720"/>
            <a:ext cx="275234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32136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50800" dir="16200000">
              <a:srgbClr val="F59E0B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23213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72016" y="2103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454896" y="256032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6" name="Text 34"/>
          <p:cNvSpPr/>
          <p:nvPr/>
        </p:nvSpPr>
        <p:spPr>
          <a:xfrm>
            <a:off x="9272016" y="2651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Banking, QR code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82880" y="379476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1168" y="3794760"/>
            <a:ext cx="2752344" cy="45720"/>
          </a:xfrm>
          <a:prstGeom prst="rect">
            <a:avLst>
              <a:gd name="adj" fmla="val 40000"/>
            </a:avLst>
          </a:prstGeom>
          <a:solidFill>
            <a:srgbClr val="6C6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4440" y="397764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2344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74320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Tracking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57200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Pending/Paid/Overdue + late fees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182112" y="379476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0" y="3794760"/>
            <a:ext cx="2752344" cy="45720"/>
          </a:xfrm>
          <a:prstGeom prst="rect">
            <a:avLst>
              <a:gd name="adj" fmla="val 40000"/>
            </a:avLst>
          </a:prstGeom>
          <a:solidFill>
            <a:srgbClr val="FF006E"/>
          </a:solidFill>
          <a:ln/>
        </p:spPr>
      </p:sp>
      <p:sp>
        <p:nvSpPr>
          <p:cNvPr id="46" name="Shape 44"/>
          <p:cNvSpPr/>
          <p:nvPr/>
        </p:nvSpPr>
        <p:spPr>
          <a:xfrm>
            <a:off x="4233672" y="397764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sx="100000" sy="100000" kx="0" ky="0" algn="bl" rotWithShape="0" blurRad="101600" dist="50800" dir="16200000">
              <a:srgbClr val="FF006E">
                <a:alpha val="4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33672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Reminders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3456432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0" name="Text 48"/>
          <p:cNvSpPr/>
          <p:nvPr/>
        </p:nvSpPr>
        <p:spPr>
          <a:xfrm>
            <a:off x="3273552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5-day, 2-day, due-date alerts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81344" y="379476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99632" y="3794760"/>
            <a:ext cx="275234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53" name="Shape 51"/>
          <p:cNvSpPr/>
          <p:nvPr/>
        </p:nvSpPr>
        <p:spPr>
          <a:xfrm>
            <a:off x="7232904" y="397764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232904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272784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Upload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6455664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7" name="Text 55"/>
          <p:cNvSpPr/>
          <p:nvPr/>
        </p:nvSpPr>
        <p:spPr>
          <a:xfrm>
            <a:off x="6272784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 proof via Cloudinary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180576" y="3794760"/>
            <a:ext cx="2788920" cy="2331720"/>
          </a:xfrm>
          <a:prstGeom prst="rect">
            <a:avLst>
              <a:gd name="adj" fmla="val 5882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198864" y="3794760"/>
            <a:ext cx="2752344" cy="45720"/>
          </a:xfrm>
          <a:prstGeom prst="rect">
            <a:avLst>
              <a:gd name="adj" fmla="val 40000"/>
            </a:avLst>
          </a:prstGeom>
          <a:solidFill>
            <a:srgbClr val="FFB8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32136" y="3977640"/>
            <a:ext cx="640080" cy="64008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50800" dir="16200000">
              <a:srgbClr val="FFB800">
                <a:alpha val="4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023213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9272016" y="47091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9454896" y="5166360"/>
            <a:ext cx="2240280" cy="18288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4" name="Text 62"/>
          <p:cNvSpPr/>
          <p:nvPr/>
        </p:nvSpPr>
        <p:spPr>
          <a:xfrm>
            <a:off x="9272016" y="525780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approval, user mgmt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Screenshots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management, tenant overview, financial reports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>
              <a:gd name="adj" fmla="val 34722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>
              <a:gd name="adj" fmla="val 1184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90500" dist="63500" dir="1620000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>
              <a:gd name="adj" fmla="val 1736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Records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properties, apply with documents, track rent status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>
              <a:gd name="adj" fmla="val 34722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>
              <a:gd name="adj" fmla="val 1184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90500" dist="63500" dir="1620000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>
              <a:gd name="adj" fmla="val 1736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 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UPI, Card, Net Banking with QR code and transaction tracking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>
              <a:gd name="adj" fmla="val 34722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>
              <a:gd name="adj" fmla="val 1184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90500" dist="63500" dir="1620000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>
              <a:gd name="adj" fmla="val 1736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Pay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Banking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Reminders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rent reminders, overdue alerts, type-based badges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>
              <a:gd name="adj" fmla="val 34722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>
              <a:gd name="adj" fmla="val 1184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90500" dist="63500" dir="1620000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>
              <a:gd name="adj" fmla="val 1736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 &amp; Reminders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 Alert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2-Day Alert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Overdue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Read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Badges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search, GPS location, price range, popular cities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9445752" cy="263347"/>
          </a:xfrm>
          <a:prstGeom prst="rect">
            <a:avLst>
              <a:gd name="adj" fmla="val 34722"/>
            </a:avLst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6039612" y="1437437"/>
            <a:ext cx="109728" cy="2743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634947"/>
            <a:ext cx="9445752" cy="3862426"/>
          </a:xfrm>
          <a:prstGeom prst="rect">
            <a:avLst>
              <a:gd name="adj" fmla="val 1184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90500" dist="63500" dir="16200000">
              <a:srgbClr val="6C63F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468880"/>
            <a:ext cx="944575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Screenshot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5326" y="5497373"/>
            <a:ext cx="3778301" cy="263347"/>
          </a:xfrm>
          <a:prstGeom prst="rect">
            <a:avLst>
              <a:gd name="adj" fmla="val 1736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1708099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Search &amp; Filters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City 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12848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Detect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Range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9904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28432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28432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Tags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966960" y="6035040"/>
            <a:ext cx="1828800" cy="384048"/>
          </a:xfrm>
          <a:prstGeom prst="rect">
            <a:avLst>
              <a:gd name="adj" fmla="val 2381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6035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Preview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User-friendly homepage with property browsing and filters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325880"/>
            <a:ext cx="9994392" cy="4754880"/>
          </a:xfrm>
          <a:prstGeom prst="rect">
            <a:avLst>
              <a:gd name="adj" fmla="val 3846"/>
            </a:avLst>
          </a:prstGeom>
          <a:solidFill>
            <a:srgbClr val="6C63FF"/>
          </a:solidFill>
          <a:ln/>
          <a:effectLst>
            <a:outerShdw sx="100000" sy="100000" kx="0" ky="0" algn="bl" rotWithShape="0" blurRad="254000" dist="50800" dir="16200000">
              <a:srgbClr val="6C63F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43000" y="1371600"/>
            <a:ext cx="9902952" cy="4663440"/>
          </a:xfrm>
          <a:prstGeom prst="rect">
            <a:avLst>
              <a:gd name="adj" fmla="val 3529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60320"/>
            <a:ext cx="9902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35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Insert Landing Page Screenshot 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931920"/>
            <a:ext cx="9902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homepage • Property browsing • Role-based login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system is heading next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234440"/>
            <a:ext cx="5632704" cy="457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50800" dir="16200000">
              <a:srgbClr val="10B981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Razorpay / Stripe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rent collection with receipts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3444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34440"/>
            <a:ext cx="563270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155448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141732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1828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ML-based property suggestions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" y="2926080"/>
            <a:ext cx="563270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461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Chat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owner-tenant messaging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292608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2926080"/>
            <a:ext cx="5632704" cy="45720"/>
          </a:xfrm>
          <a:prstGeom prst="rect">
            <a:avLst>
              <a:gd name="adj" fmla="val 40000"/>
            </a:avLst>
          </a:prstGeom>
          <a:solidFill>
            <a:srgbClr val="6C6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6520" y="3246120"/>
            <a:ext cx="640080" cy="64008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50800" dir="16200000">
              <a:srgbClr val="6C63FF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310896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5204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for iOS &amp; Android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2608" y="4617720"/>
            <a:ext cx="563270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937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50800" dir="16200000">
              <a:srgbClr val="F59E0B">
                <a:alpha val="4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3444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Analytics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trends, occupancy forecasting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4617720"/>
            <a:ext cx="566928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4617720"/>
            <a:ext cx="5632704" cy="45720"/>
          </a:xfrm>
          <a:prstGeom prst="rect">
            <a:avLst>
              <a:gd name="adj" fmla="val 40000"/>
            </a:avLst>
          </a:prstGeom>
          <a:solidFill>
            <a:srgbClr val="FF00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46520" y="4937760"/>
            <a:ext cx="640080" cy="640080"/>
          </a:xfrm>
          <a:prstGeom prst="ellipse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  <a:effectLst>
            <a:outerShdw sx="100000" sy="100000" kx="0" ky="0" algn="bl" rotWithShape="0" blurRad="101600" dist="50800" dir="16200000">
              <a:srgbClr val="FF006E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23760" y="480060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SMS/Email Automation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223760" y="52120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scheduled reminders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914400"/>
            <a:ext cx="7315200" cy="73152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3566160"/>
            <a:ext cx="3959352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C63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0" y="3017520"/>
            <a:ext cx="1219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 &amp; Architecture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754880" y="3840480"/>
            <a:ext cx="2679192" cy="36576"/>
          </a:xfrm>
          <a:prstGeom prst="rect">
            <a:avLst/>
          </a:prstGeom>
          <a:solidFill>
            <a:srgbClr val="8B5CF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Diagram (DFD)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information flow between entities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3044952" cy="1463040"/>
          </a:xfrm>
          <a:prstGeom prst="rect">
            <a:avLst>
              <a:gd name="adj" fmla="val 9375"/>
            </a:avLst>
          </a:prstGeom>
          <a:solidFill>
            <a:srgbClr val="1A214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743200"/>
            <a:ext cx="3008376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1089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RentEase System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28600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743200"/>
            <a:ext cx="224942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45752" y="2743200"/>
            <a:ext cx="2286000" cy="1463040"/>
          </a:xfrm>
          <a:prstGeom prst="rect">
            <a:avLst>
              <a:gd name="adj" fmla="val 9375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64040" y="2743200"/>
            <a:ext cx="224942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445752" y="27432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5303520"/>
            <a:ext cx="3044952" cy="1097280"/>
          </a:xfrm>
          <a:prstGeom prst="rect">
            <a:avLst>
              <a:gd name="adj" fmla="val 12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5303520"/>
            <a:ext cx="3008376" cy="457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5303520"/>
            <a:ext cx="3044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834640" y="3108960"/>
            <a:ext cx="1645920" cy="13716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Properties, Approvals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34640" y="3657600"/>
            <a:ext cx="1645920" cy="137160"/>
          </a:xfrm>
          <a:prstGeom prst="leftArrow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Payments, Notices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08392" y="3108960"/>
            <a:ext cx="1645920" cy="137160"/>
          </a:xfrm>
          <a:prstGeom prst="rightArrow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708392" y="2834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System Logs, Content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08392" y="3657600"/>
            <a:ext cx="1645920" cy="137160"/>
          </a:xfrm>
          <a:prstGeom prst="leftArrow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7708392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Settings,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4389120"/>
            <a:ext cx="137160" cy="731520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572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Approvals, Dues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65392" y="4389120"/>
            <a:ext cx="137160" cy="731520"/>
          </a:xfrm>
          <a:prstGeom prst="upArrow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793992" y="45720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Requests, Rent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Relationship (ER) Diagram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definitions and their associations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2926080"/>
            <a:ext cx="2286000" cy="1097280"/>
          </a:xfrm>
          <a:prstGeom prst="rect">
            <a:avLst>
              <a:gd name="adj" fmla="val 12500"/>
            </a:avLst>
          </a:prstGeom>
          <a:solidFill>
            <a:srgbClr val="1A2142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56048" y="2926080"/>
            <a:ext cx="224942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1097280"/>
            <a:ext cx="2286000" cy="1097280"/>
          </a:xfrm>
          <a:prstGeom prst="rect">
            <a:avLst>
              <a:gd name="adj" fmla="val 12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56048" y="1097280"/>
            <a:ext cx="224942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4754880"/>
            <a:ext cx="2286000" cy="1097280"/>
          </a:xfrm>
          <a:prstGeom prst="rect">
            <a:avLst>
              <a:gd name="adj" fmla="val 12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56048" y="4754880"/>
            <a:ext cx="2249424" cy="45720"/>
          </a:xfrm>
          <a:prstGeom prst="rect">
            <a:avLst>
              <a:gd name="adj" fmla="val 4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4754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71600" y="2926080"/>
            <a:ext cx="2286000" cy="1097280"/>
          </a:xfrm>
          <a:prstGeom prst="rect">
            <a:avLst>
              <a:gd name="adj" fmla="val 12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89888" y="2926080"/>
            <a:ext cx="224942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3920" y="2926080"/>
            <a:ext cx="2286000" cy="1097280"/>
          </a:xfrm>
          <a:prstGeom prst="rect">
            <a:avLst>
              <a:gd name="adj" fmla="val 12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22208" y="2926080"/>
            <a:ext cx="2249424" cy="45720"/>
          </a:xfrm>
          <a:prstGeom prst="rect">
            <a:avLst>
              <a:gd name="adj" fmla="val 40000"/>
            </a:avLst>
          </a:prstGeom>
          <a:solidFill>
            <a:srgbClr val="FF006E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9260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89320" y="2286000"/>
            <a:ext cx="137160" cy="548640"/>
          </a:xfrm>
          <a:prstGeom prst="upArrow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Owns / Rents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4114800"/>
            <a:ext cx="137160" cy="548640"/>
          </a:xfrm>
          <a:prstGeom prst="downArrow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429000"/>
            <a:ext cx="914400" cy="137160"/>
          </a:xfrm>
          <a:prstGeom prst="leftArrow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3429000"/>
            <a:ext cx="914400" cy="137160"/>
          </a:xfrm>
          <a:prstGeom prst="rightArrow">
            <a:avLst/>
          </a:prstGeom>
          <a:solidFill>
            <a:srgbClr val="FF006E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Receives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 stack and cloud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10332720" cy="4114800"/>
          </a:xfrm>
          <a:prstGeom prst="rect">
            <a:avLst>
              <a:gd name="adj" fmla="val 2222"/>
            </a:avLst>
          </a:prstGeom>
          <a:solidFill>
            <a:srgbClr val="111832"/>
          </a:solidFill>
          <a:ln w="12700">
            <a:solidFill>
              <a:srgbClr val="2D356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Vercel Cloud Deployment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2560320" cy="1828800"/>
          </a:xfrm>
          <a:prstGeom prst="rect">
            <a:avLst>
              <a:gd name="adj" fmla="val 7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89888" y="2743200"/>
            <a:ext cx="2523744" cy="45720"/>
          </a:xfrm>
          <a:prstGeom prst="rect">
            <a:avLst>
              <a:gd name="adj" fmla="val 40000"/>
            </a:avLst>
          </a:prstGeom>
          <a:solidFill>
            <a:srgbClr val="00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31720" y="301752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0D4FF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• Vite • Tailwind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2560320" cy="1828800"/>
          </a:xfrm>
          <a:prstGeom prst="rect">
            <a:avLst>
              <a:gd name="adj" fmla="val 7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743200"/>
            <a:ext cx="2523744" cy="45720"/>
          </a:xfrm>
          <a:prstGeom prst="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0" y="301752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50800" dir="16200000">
              <a:srgbClr val="F59E0B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/ Auth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• Firestore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2743200"/>
            <a:ext cx="2560320" cy="1828800"/>
          </a:xfrm>
          <a:prstGeom prst="rect">
            <a:avLst>
              <a:gd name="adj" fmla="val 7500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47888" y="2743200"/>
            <a:ext cx="2523744" cy="45720"/>
          </a:xfrm>
          <a:prstGeom prst="rect">
            <a:avLst>
              <a:gd name="adj" fmla="val 40000"/>
            </a:avLst>
          </a:prstGeom>
          <a:solidFill>
            <a:srgbClr val="8B5C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9720" y="301752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897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Storage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023360" y="3611880"/>
            <a:ext cx="685800" cy="137160"/>
          </a:xfrm>
          <a:prstGeom prst="leftRightArrow">
            <a:avLst/>
          </a:prstGeom>
          <a:solidFill>
            <a:srgbClr val="6C63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3611880"/>
            <a:ext cx="685800" cy="137160"/>
          </a:xfrm>
          <a:prstGeom prst="leftRightArrow">
            <a:avLst/>
          </a:prstGeom>
          <a:solidFill>
            <a:srgbClr val="6C63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57200"/>
            <a:ext cx="4572000" cy="45720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1188720"/>
            <a:ext cx="2743200" cy="27432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37160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74320" y="32004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36576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2344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2344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Simplifies the entire rental lifecycle — listing to payment.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488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paperwork with automated rent cycles &amp; late fees.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Improves transparency through real-time notifications.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Scalable architecture — ready for real payment gateways.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45720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9204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 stack ensures reliability &amp; security.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82880"/>
            <a:ext cx="54864" cy="64008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Bibliography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&amp; References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3075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Docs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3075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firebase.google.com/docs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947672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47672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20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Documentation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208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react.dev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660904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60904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6609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7340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 Docs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273405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cloudinary.com/documentation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374136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74136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741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4472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Handbook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44728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typescriptlang.org/docs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87368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87368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Documentation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0" y="41605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vitejs.dev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4800600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800600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4873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Docs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487375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vercel.com/docs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5513832"/>
            <a:ext cx="11612880" cy="594360"/>
          </a:xfrm>
          <a:prstGeom prst="rect">
            <a:avLst>
              <a:gd name="adj" fmla="val 23077"/>
            </a:avLst>
          </a:prstGeom>
          <a:solidFill>
            <a:srgbClr val="151B36"/>
          </a:solidFill>
          <a:ln w="12700">
            <a:solidFill>
              <a:srgbClr val="2D3561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5513832"/>
            <a:ext cx="594360" cy="594360"/>
          </a:xfrm>
          <a:prstGeom prst="rect">
            <a:avLst>
              <a:gd name="adj" fmla="val 12308"/>
            </a:avLst>
          </a:prstGeom>
          <a:solidFill>
            <a:srgbClr val="6C63FF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5513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" y="5586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29200" y="55869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stackoverflow.com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11832"/>
          </a:solidFill>
          <a:ln w="12700">
            <a:solidFill>
              <a:srgbClr val="111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D1225"/>
          </a:solidFill>
          <a:ln w="12700">
            <a:solidFill>
              <a:srgbClr val="0D12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-73152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371600"/>
            <a:ext cx="1219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effectLst>
                  <a:glow rad="127000">
                    <a:srgbClr val="6C63FF">
                      <a:alpha val="40000"/>
                    </a:srgbClr>
                  </a:glo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0" y="310896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Rental Property Management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3794760"/>
            <a:ext cx="5239512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023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Feedback are Welcome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Mohammad Mojahid  |  B.Tech CSE — 6th Semester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2026-04-01T14:56:18Z</dcterms:created>
  <dcterms:modified xsi:type="dcterms:W3CDTF">2026-04-01T14:56:18Z</dcterms:modified>
</cp:coreProperties>
</file>